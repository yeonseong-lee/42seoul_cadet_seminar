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View from inside a stone structure, looking out toward stairs and a clear, blue sky"/>
          <p:cNvSpPr/>
          <p:nvPr>
            <p:ph type="pic" idx="21"/>
          </p:nvPr>
        </p:nvSpPr>
        <p:spPr>
          <a:xfrm>
            <a:off x="0" y="-1270000"/>
            <a:ext cx="24384000" cy="162729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 modern white building with glass panels against a clear, blue sky"/>
          <p:cNvSpPr/>
          <p:nvPr>
            <p:ph type="pic" idx="21"/>
          </p:nvPr>
        </p:nvSpPr>
        <p:spPr>
          <a:xfrm>
            <a:off x="92710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Small section of a modern shell bridge in Qingdao, Shandong, China with a partly cloudy sky above"/>
          <p:cNvSpPr/>
          <p:nvPr>
            <p:ph type="pic" idx="22"/>
          </p:nvPr>
        </p:nvSpPr>
        <p:spPr>
          <a:xfrm>
            <a:off x="9271000" y="1263848"/>
            <a:ext cx="16773843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Low angle exterior view of a modern building facade covered with aluminum discs under a clear, blue sky"/>
          <p:cNvSpPr/>
          <p:nvPr>
            <p:ph type="pic" sz="quarter" idx="21"/>
          </p:nvPr>
        </p:nvSpPr>
        <p:spPr>
          <a:xfrm>
            <a:off x="15417800" y="1270000"/>
            <a:ext cx="8144934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Low angle view of a modern, curved building under a cloudy sky"/>
          <p:cNvSpPr/>
          <p:nvPr>
            <p:ph type="pic" sz="quarter" idx="22"/>
          </p:nvPr>
        </p:nvSpPr>
        <p:spPr>
          <a:xfrm>
            <a:off x="15443200" y="7086600"/>
            <a:ext cx="8138580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View from inside a modern white building with glass panels, looking up to a bright, partly cloudy sky"/>
          <p:cNvSpPr/>
          <p:nvPr>
            <p:ph type="pic" idx="23"/>
          </p:nvPr>
        </p:nvSpPr>
        <p:spPr>
          <a:xfrm>
            <a:off x="-124635" y="1270000"/>
            <a:ext cx="16840169" cy="1124371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Low angle view of the Azadi Tower in Tehran, Iran against a clear, bright sky"/>
          <p:cNvSpPr/>
          <p:nvPr>
            <p:ph type="pic" idx="21"/>
          </p:nvPr>
        </p:nvSpPr>
        <p:spPr>
          <a:xfrm>
            <a:off x="0" y="-1282700"/>
            <a:ext cx="24384000" cy="16281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tif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tif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tif"/><Relationship Id="rId3" Type="http://schemas.openxmlformats.org/officeDocument/2006/relationships/image" Target="../media/image4.tif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tif"/><Relationship Id="rId3" Type="http://schemas.openxmlformats.org/officeDocument/2006/relationships/image" Target="../media/image4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tif"/><Relationship Id="rId3" Type="http://schemas.openxmlformats.org/officeDocument/2006/relationships/image" Target="../media/image5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image" Target="../media/image7.tif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3" Type="http://schemas.openxmlformats.org/officeDocument/2006/relationships/image" Target="../media/image1.tif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tif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image" Target="../media/image9.tif"/><Relationship Id="rId4" Type="http://schemas.openxmlformats.org/officeDocument/2006/relationships/image" Target="../media/image10.tif"/><Relationship Id="rId5" Type="http://schemas.openxmlformats.org/officeDocument/2006/relationships/image" Target="../media/image11.tif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cs.rpi.edu/~cutler/classes/advancedgraphics/S19/final_projects/audrey_lorelei.pdf" TargetMode="External"/><Relationship Id="rId3" Type="http://schemas.openxmlformats.org/officeDocument/2006/relationships/hyperlink" Target="https://www.ksakosmos.com/post/%EB%A0%88%EC%9D%B4-%ED%8A%B8%EB%A0%88%EC%9D%B4%EC%8B%B1-ray-tracing-%EA%B3%BC-%EB%B9%9B%EC%9D%98-%EB%AC%BC%EB%A6%AC%ED%95%99" TargetMode="External"/><Relationship Id="rId4" Type="http://schemas.openxmlformats.org/officeDocument/2006/relationships/hyperlink" Target="https://learnopengl.com/Lighting/Basic-Lighting" TargetMode="External"/><Relationship Id="rId5" Type="http://schemas.openxmlformats.org/officeDocument/2006/relationships/hyperlink" Target="https://42born2code.slack.com/archives/CMYBUFF7D/p1676636193978029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jmaing, seongyle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jmaing, seongyle</a:t>
            </a:r>
          </a:p>
        </p:txBody>
      </p:sp>
      <p:sp>
        <p:nvSpPr>
          <p:cNvPr id="152" name="HDR + CSG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HDR + CSG</a:t>
            </a:r>
          </a:p>
        </p:txBody>
      </p:sp>
      <p:sp>
        <p:nvSpPr>
          <p:cNvPr id="153" name="CSG와 HDR에 대한 간단한 소개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CSG와 HDR에 대한 간단한 소개</a:t>
            </a:r>
          </a:p>
        </p:txBody>
      </p:sp>
      <p:pic>
        <p:nvPicPr>
          <p:cNvPr id="154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188830" y="5334927"/>
            <a:ext cx="10006891" cy="56288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miniRT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miniRT</a:t>
            </a:r>
          </a:p>
        </p:txBody>
      </p:sp>
      <p:sp>
        <p:nvSpPr>
          <p:cNvPr id="157" name="- miniRT가 뭐죠?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792479">
              <a:defRPr sz="5280"/>
            </a:lvl1pPr>
          </a:lstStyle>
          <a:p>
            <a:pPr/>
            <a:r>
              <a:t>- miniRT가 뭐죠?</a:t>
            </a:r>
          </a:p>
        </p:txBody>
      </p:sp>
      <p:pic>
        <p:nvPicPr>
          <p:cNvPr id="158" name="Screen Shot 2023-03-09 at 9.51.59 PM.png" descr="Screen Shot 2023-03-09 at 9.51.59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709256" y="4862744"/>
            <a:ext cx="7322077" cy="6096107"/>
          </a:xfrm>
          <a:prstGeom prst="rect">
            <a:avLst/>
          </a:prstGeom>
          <a:ln w="12700">
            <a:miter lim="400000"/>
          </a:ln>
        </p:spPr>
      </p:pic>
      <p:pic>
        <p:nvPicPr>
          <p:cNvPr id="159" name="Screen Shot 2023-03-09 at 9.53.00 PM.png" descr="Screen Shot 2023-03-09 at 9.53.00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920513" y="4818512"/>
            <a:ext cx="13048367" cy="618457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ay Trac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Ray Tracing</a:t>
            </a:r>
          </a:p>
        </p:txBody>
      </p:sp>
      <p:sp>
        <p:nvSpPr>
          <p:cNvPr id="162" name="- ray tracing이 뭐죠?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792479">
              <a:defRPr sz="5280"/>
            </a:lvl1pPr>
          </a:lstStyle>
          <a:p>
            <a:pPr/>
            <a:r>
              <a:t>- ray tracing이 뭐죠?</a:t>
            </a:r>
          </a:p>
        </p:txBody>
      </p:sp>
      <p:sp>
        <p:nvSpPr>
          <p:cNvPr id="163" name="WHAT : 실제 세상에서 빛이 나아가는 것처럼 빛의 밝기를 계산해서 랜더링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WHAT : 실제 세상에서 빛이 나아가는 것처럼 빛의 밝기를 계산해서 랜더링</a:t>
            </a:r>
          </a:p>
          <a:p>
            <a:pPr/>
            <a:r>
              <a:t>WHY : 더 사실적인 화면</a:t>
            </a:r>
          </a:p>
          <a:p>
            <a:pPr/>
            <a:r>
              <a:t>HOW :  (다음장)</a:t>
            </a:r>
          </a:p>
        </p:txBody>
      </p:sp>
      <p:pic>
        <p:nvPicPr>
          <p:cNvPr id="164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577537" y="5810540"/>
            <a:ext cx="12653455" cy="711233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ay Tracing -HOW-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Ray Tracing -HOW-</a:t>
            </a:r>
          </a:p>
        </p:txBody>
      </p:sp>
      <p:sp>
        <p:nvSpPr>
          <p:cNvPr id="167" name="눈(카메라)에서 빛이 쏴진다고 생각하고 역으로 계산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눈(카메라)에서 빛이 쏴진다고 생각하고 역으로 계산</a:t>
            </a:r>
          </a:p>
          <a:p>
            <a:pPr/>
            <a:r>
              <a:t>계산하는 법에는 여러가지 모델이 존재</a:t>
            </a:r>
          </a:p>
        </p:txBody>
      </p:sp>
      <p:pic>
        <p:nvPicPr>
          <p:cNvPr id="168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593516" y="1842710"/>
            <a:ext cx="7351796" cy="4881593"/>
          </a:xfrm>
          <a:prstGeom prst="rect">
            <a:avLst/>
          </a:prstGeom>
          <a:ln w="12700">
            <a:miter lim="400000"/>
          </a:ln>
        </p:spPr>
      </p:pic>
      <p:pic>
        <p:nvPicPr>
          <p:cNvPr id="169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656818" y="7826054"/>
            <a:ext cx="16689364" cy="466099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ay Tracing -HOW-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Ray Tracing -HOW-</a:t>
            </a:r>
          </a:p>
        </p:txBody>
      </p:sp>
      <p:sp>
        <p:nvSpPr>
          <p:cNvPr id="172" name="상세 설명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792479">
              <a:defRPr sz="5280"/>
            </a:lvl1pPr>
          </a:lstStyle>
          <a:p>
            <a:pPr/>
            <a:r>
              <a:t>상세 설명</a:t>
            </a:r>
          </a:p>
        </p:txBody>
      </p:sp>
      <p:pic>
        <p:nvPicPr>
          <p:cNvPr id="173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87787" y="5027473"/>
            <a:ext cx="8102508" cy="6698073"/>
          </a:xfrm>
          <a:prstGeom prst="rect">
            <a:avLst/>
          </a:prstGeom>
          <a:ln w="12700">
            <a:miter lim="400000"/>
          </a:ln>
        </p:spPr>
      </p:pic>
      <p:pic>
        <p:nvPicPr>
          <p:cNvPr id="174" name="Screen Shot 2023-03-11 at 4.34.47 PM.png" descr="Screen Shot 2023-03-11 at 4.34.47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137403" y="4582814"/>
            <a:ext cx="11961298" cy="758739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CSG (Constructive Solid Geometry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CSG (Constructive Solid Geometry)</a:t>
            </a:r>
          </a:p>
        </p:txBody>
      </p:sp>
      <p:sp>
        <p:nvSpPr>
          <p:cNvPr id="177" name="- CSG가 뭐죠?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792479">
              <a:defRPr sz="5280"/>
            </a:lvl1pPr>
          </a:lstStyle>
          <a:p>
            <a:pPr/>
            <a:r>
              <a:t>- CSG가 뭐죠?</a:t>
            </a:r>
          </a:p>
        </p:txBody>
      </p:sp>
      <p:sp>
        <p:nvSpPr>
          <p:cNvPr id="178" name="WHAT : 기본 도형들을 결합하여              복잡한 모델을 만드는 기법…"/>
          <p:cNvSpPr txBox="1"/>
          <p:nvPr>
            <p:ph type="body" sz="half" idx="1"/>
          </p:nvPr>
        </p:nvSpPr>
        <p:spPr>
          <a:xfrm>
            <a:off x="1206500" y="4248504"/>
            <a:ext cx="12185040" cy="8256012"/>
          </a:xfrm>
          <a:prstGeom prst="rect">
            <a:avLst/>
          </a:prstGeom>
        </p:spPr>
        <p:txBody>
          <a:bodyPr/>
          <a:lstStyle/>
          <a:p>
            <a:pPr/>
            <a:r>
              <a:t>WHAT : 기본 도형들을 결합하여</a:t>
            </a:r>
            <a:br/>
            <a:r>
              <a:t>             복잡한 모델을 만드는 기법</a:t>
            </a:r>
          </a:p>
          <a:p>
            <a:pPr/>
            <a:r>
              <a:t>WHY : 다른 모델에 비해 쉽게</a:t>
            </a:r>
            <a:br/>
            <a:r>
              <a:t>           복잡한 물체를 모델링 할 수 있다.</a:t>
            </a:r>
          </a:p>
          <a:p>
            <a:pPr>
              <a:buClr>
                <a:srgbClr val="000000"/>
              </a:buClr>
            </a:pPr>
            <a:r>
              <a:t>HOW : 기본 도형들에 불리언 연산 적용</a:t>
            </a:r>
            <a:br/>
            <a:r>
              <a:t>(</a:t>
            </a:r>
            <a:r>
              <a:rPr>
                <a:solidFill>
                  <a:srgbClr val="5E5E5E"/>
                </a:solidFill>
              </a:rPr>
              <a:t>UNION, INTERSECTION, DIFFERENCE</a:t>
            </a:r>
            <a:r>
              <a:t>) </a:t>
            </a:r>
          </a:p>
        </p:txBody>
      </p:sp>
      <p:pic>
        <p:nvPicPr>
          <p:cNvPr id="179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912599" y="3130550"/>
            <a:ext cx="6235101" cy="571283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0" name="Screen Shot 2023-03-10 at 2.40.26 AM.png" descr="Screen Shot 2023-03-10 at 2.40.26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7901163" y="3114954"/>
            <a:ext cx="6015783" cy="863240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CSG - HOW -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CSG - HOW -</a:t>
            </a:r>
          </a:p>
        </p:txBody>
      </p:sp>
      <p:pic>
        <p:nvPicPr>
          <p:cNvPr id="183" name="Screen Shot 2023-03-10 at 2.50.20 AM.png" descr="Screen Shot 2023-03-10 at 2.50.20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022982" y="2303823"/>
            <a:ext cx="16110436" cy="10916139"/>
          </a:xfrm>
          <a:prstGeom prst="rect">
            <a:avLst/>
          </a:prstGeom>
          <a:ln w="12700">
            <a:miter lim="400000"/>
          </a:ln>
        </p:spPr>
      </p:pic>
      <p:pic>
        <p:nvPicPr>
          <p:cNvPr id="184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41300" y="4013549"/>
            <a:ext cx="8460209" cy="749668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Examp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Example</a:t>
            </a:r>
          </a:p>
        </p:txBody>
      </p:sp>
      <p:pic>
        <p:nvPicPr>
          <p:cNvPr id="187" name="Screen Shot 2023-03-11 at 4.58.10 PM.png" descr="Screen Shot 2023-03-11 at 4.58.10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431716" y="4513076"/>
            <a:ext cx="9694836" cy="77268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31100" y="3242631"/>
            <a:ext cx="16060007" cy="903375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HDR (High Dynamic Range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HDR (High Dynamic Range)</a:t>
            </a:r>
          </a:p>
        </p:txBody>
      </p:sp>
      <p:sp>
        <p:nvSpPr>
          <p:cNvPr id="191" name="- HDR이 뭐죠?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792479">
              <a:defRPr sz="5280"/>
            </a:lvl1pPr>
          </a:lstStyle>
          <a:p>
            <a:pPr/>
            <a:r>
              <a:t>- HDR이 뭐죠?</a:t>
            </a:r>
          </a:p>
        </p:txBody>
      </p:sp>
      <p:sp>
        <p:nvSpPr>
          <p:cNvPr id="192" name="WHAT :   이미지 내 밝은 부분과 어두운 차이를 극대화시키는 기법…"/>
          <p:cNvSpPr txBox="1"/>
          <p:nvPr>
            <p:ph type="body" sz="half" idx="1"/>
          </p:nvPr>
        </p:nvSpPr>
        <p:spPr>
          <a:xfrm>
            <a:off x="1206500" y="4248504"/>
            <a:ext cx="9330491" cy="8430377"/>
          </a:xfrm>
          <a:prstGeom prst="rect">
            <a:avLst/>
          </a:prstGeom>
        </p:spPr>
        <p:txBody>
          <a:bodyPr/>
          <a:lstStyle/>
          <a:p>
            <a:pPr/>
            <a:r>
              <a:t>WHAT :  </a:t>
            </a:r>
            <a:br/>
            <a:r>
              <a:t>이미지 내 밝은 부분과 어두운 차이를 극대화시키는 기법</a:t>
            </a:r>
          </a:p>
          <a:p>
            <a:pPr/>
            <a:r>
              <a:t>WHY : </a:t>
            </a:r>
            <a:br/>
            <a:r>
              <a:t>더 극적인 이미지를 얻을 수 있다.</a:t>
            </a:r>
          </a:p>
          <a:p>
            <a:pPr/>
            <a:r>
              <a:t>HOW : </a:t>
            </a:r>
            <a:br/>
            <a:r>
              <a:t>빛을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0 ~ infinity </a:t>
            </a:r>
            <a:r>
              <a:t>로 계산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 </a:t>
            </a:r>
            <a:b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</a:br>
            <a:r>
              <a:t>-&gt;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  0 ~ 1</a:t>
            </a:r>
            <a:r>
              <a:t>로 비선형적으로 정규화</a:t>
            </a:r>
          </a:p>
        </p:txBody>
      </p:sp>
      <p:pic>
        <p:nvPicPr>
          <p:cNvPr id="193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589899" y="4118520"/>
            <a:ext cx="13372386" cy="75219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BONUS minRT에서 해볼만한 것들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65188">
              <a:defRPr spc="-164" sz="8245"/>
            </a:lvl1pPr>
          </a:lstStyle>
          <a:p>
            <a:pPr/>
            <a:r>
              <a:t>BONUS minRT에서 해볼만한 것들</a:t>
            </a:r>
          </a:p>
        </p:txBody>
      </p:sp>
      <p:sp>
        <p:nvSpPr>
          <p:cNvPr id="196" name="CSG, HDR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3504" indent="-603504" defTabSz="2413955">
              <a:spcBef>
                <a:spcPts val="4400"/>
              </a:spcBef>
              <a:defRPr sz="4752"/>
            </a:pPr>
            <a:r>
              <a:t>CSG, HDR</a:t>
            </a:r>
          </a:p>
          <a:p>
            <a:pPr marL="603504" indent="-603504" defTabSz="2413955">
              <a:spcBef>
                <a:spcPts val="4400"/>
              </a:spcBef>
              <a:defRPr sz="4752"/>
            </a:pPr>
            <a:r>
              <a:t>2차곡면 일반화</a:t>
            </a:r>
          </a:p>
          <a:p>
            <a:pPr marL="603504" indent="-603504" defTabSz="2413955">
              <a:spcBef>
                <a:spcPts val="4400"/>
              </a:spcBef>
              <a:defRPr sz="4752"/>
            </a:pPr>
            <a:r>
              <a:t>다차곡면</a:t>
            </a:r>
          </a:p>
          <a:p>
            <a:pPr marL="603504" indent="-603504" defTabSz="2413955">
              <a:spcBef>
                <a:spcPts val="4400"/>
              </a:spcBef>
              <a:defRPr sz="4752"/>
            </a:pPr>
            <a:r>
              <a:t>그림자, 반사, 굴절</a:t>
            </a:r>
          </a:p>
          <a:p>
            <a:pPr marL="603504" indent="-603504" defTabSz="2413955">
              <a:spcBef>
                <a:spcPts val="4400"/>
              </a:spcBef>
              <a:defRPr sz="4752"/>
            </a:pPr>
            <a:r>
              <a:t>multi threading</a:t>
            </a:r>
          </a:p>
          <a:p>
            <a:pPr marL="603504" indent="-603504" defTabSz="2413955">
              <a:spcBef>
                <a:spcPts val="4400"/>
              </a:spcBef>
              <a:defRPr sz="4752"/>
            </a:pPr>
            <a:r>
              <a:t>global illumination</a:t>
            </a:r>
          </a:p>
          <a:p>
            <a:pPr marL="603504" indent="-603504" defTabSz="2413955">
              <a:spcBef>
                <a:spcPts val="4400"/>
              </a:spcBef>
              <a:defRPr sz="4752"/>
            </a:pPr>
            <a:r>
              <a:t>obj 파일 파싱 -&gt; 드래곤 </a:t>
            </a:r>
          </a:p>
        </p:txBody>
      </p:sp>
      <p:pic>
        <p:nvPicPr>
          <p:cNvPr id="197" name="Screen Shot 2023-03-11 at 4.45.52 PM.png" descr="Screen Shot 2023-03-11 at 4.45.52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058910" y="3199707"/>
            <a:ext cx="6134101" cy="3695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8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278475" y="3376491"/>
            <a:ext cx="3827050" cy="3827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9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769405" y="8904938"/>
            <a:ext cx="5295901" cy="3971926"/>
          </a:xfrm>
          <a:prstGeom prst="rect">
            <a:avLst/>
          </a:prstGeom>
          <a:ln w="12700">
            <a:miter lim="400000"/>
          </a:ln>
        </p:spPr>
      </p:pic>
      <p:pic>
        <p:nvPicPr>
          <p:cNvPr id="200" name="Image" descr="Image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0284118" y="8851140"/>
            <a:ext cx="5018172" cy="407952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Q &amp; A"/>
          <p:cNvSpPr txBox="1"/>
          <p:nvPr>
            <p:ph type="title"/>
          </p:nvPr>
        </p:nvSpPr>
        <p:spPr>
          <a:xfrm>
            <a:off x="9648508" y="5282388"/>
            <a:ext cx="11376597" cy="10053642"/>
          </a:xfrm>
          <a:prstGeom prst="rect">
            <a:avLst/>
          </a:prstGeom>
        </p:spPr>
        <p:txBody>
          <a:bodyPr/>
          <a:lstStyle>
            <a:lvl1pPr>
              <a:defRPr spc="-258" sz="12900"/>
            </a:lvl1pPr>
          </a:lstStyle>
          <a:p>
            <a:pPr/>
            <a:r>
              <a:t>Q &amp; 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Referen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Reference</a:t>
            </a:r>
          </a:p>
        </p:txBody>
      </p:sp>
      <p:sp>
        <p:nvSpPr>
          <p:cNvPr id="205" name="[기존 레이트레이신 모델에서 CSG기능 확장 추가]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u="sng">
                <a:hlinkClick r:id="rId2" invalidUrl="" action="" tgtFrame="" tooltip="" history="1" highlightClick="0" endSnd="0"/>
              </a:rPr>
              <a:t>[기존 레이트레이신 모델에서 CSG기능 확장 추가]</a:t>
            </a:r>
          </a:p>
          <a:p>
            <a:pPr/>
            <a:r>
              <a:rPr u="sng">
                <a:hlinkClick r:id="rId3" invalidUrl="" action="" tgtFrame="" tooltip="" history="1" highlightClick="0" endSnd="0"/>
              </a:rPr>
              <a:t>[레이 트레이싱과 빛의 물리학]</a:t>
            </a:r>
          </a:p>
          <a:p>
            <a:pPr/>
            <a:r>
              <a:rPr u="sng">
                <a:hlinkClick r:id="rId4" invalidUrl="" action="" tgtFrame="" tooltip="" history="1" highlightClick="0" endSnd="0"/>
              </a:rPr>
              <a:t>[openGL phong lighting]</a:t>
            </a:r>
          </a:p>
          <a:p>
            <a:pPr/>
            <a:r>
              <a:rPr u="sng">
                <a:hlinkClick r:id="rId5" invalidUrl="" action="" tgtFrame="" tooltip="" history="1" highlightClick="0" endSnd="0"/>
              </a:rPr>
              <a:t>[카뎃이 만든 miniRT 드래곤]</a:t>
            </a:r>
          </a:p>
          <a:p>
            <a:pPr/>
            <a:r>
              <a:t>chatGPT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5E5E5E"/>
      </a:dk1>
      <a:lt1>
        <a:srgbClr val="005E00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